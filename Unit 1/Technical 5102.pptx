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1" r:id="rId4"/>
    <p:sldId id="273" r:id="rId5"/>
    <p:sldId id="272" r:id="rId6"/>
    <p:sldId id="258" r:id="rId7"/>
    <p:sldId id="265" r:id="rId8"/>
    <p:sldId id="266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6AF2-675F-4556-9815-796B31BCEC0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22CDD-8ADA-4325-B409-975DC65F6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26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22CDD-8ADA-4325-B409-975DC65F611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42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60283-3F34-3064-CDB0-9B616F031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E52616-8E2A-BBF0-9865-92369B576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EABF9-33C0-29F7-4800-64B0D234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2E0F-C1D2-4E62-B007-8283FB2CC50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D0DBD-87FE-905D-7EFE-C35062386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EB01B-21E5-E3CB-466C-370F8C0F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C3105-F225-4336-A8F7-6D9F56007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984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6D500-BC90-12D8-F353-EDDD19A17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8FD58-7E1E-442A-8419-4CD161DAD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E1BF9-F18D-3C1C-1B73-EB5773AA5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2E0F-C1D2-4E62-B007-8283FB2CC50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2536F-F8E5-D42C-76ED-FDDD5560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BED76-D72D-4EB5-D5C9-CA5983F7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C3105-F225-4336-A8F7-6D9F56007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158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20FB6-0E33-8EBA-85FD-895659562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4947D-E1D9-359F-5EFE-6BDA12945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71888-680B-7BF0-41F9-4262499CA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2E0F-C1D2-4E62-B007-8283FB2CC50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06F6C-2618-BBC2-2C6A-2B9049E95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4E79B-990E-148A-B3B2-A57B285F7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C3105-F225-4336-A8F7-6D9F56007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624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0C53-EBF1-5AA2-D10D-AEEE5BBF8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210EB-A569-30F0-E8D2-56A6EE748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17819-5400-5820-DE6B-881D04407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97800-DFFD-5C75-AF20-42E96BE28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2E0F-C1D2-4E62-B007-8283FB2CC50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57CCE-9DC6-2385-8C71-6400340B8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704C4-F5F3-84D4-C9FC-683EC2706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C3105-F225-4336-A8F7-6D9F56007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402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77880-FA13-DCCF-ACD6-AF0DE175C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8EF3D-C7E7-37E8-E496-0235D25CC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157F10-1F35-8A41-F5DA-E8AE2640A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86FF76-1857-4095-3305-9809D13726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166BD6-5084-F111-76A7-2612484F05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DD392-06E4-92FA-69C7-A49329D1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2E0F-C1D2-4E62-B007-8283FB2CC50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82ED6-2AD3-7FD1-0CA4-6CF73CBF6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BB1800-622D-5EA6-8137-4B6234653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C3105-F225-4336-A8F7-6D9F56007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890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8238D-8D00-D8A2-9047-317F7321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4155AE-068A-7AB9-048A-015F4CE58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2E0F-C1D2-4E62-B007-8283FB2CC50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3B993A-B828-548C-8F14-1C3CE38BA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4F82F-6BEA-A005-6638-392144860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C3105-F225-4336-A8F7-6D9F56007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52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5C0536-3CD7-C9F2-A5F5-2F4D0A063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2E0F-C1D2-4E62-B007-8283FB2CC50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161D1F-91D5-79EC-9F81-1AAB9F08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68B38-BC86-3956-0675-7C9DCAA60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C3105-F225-4336-A8F7-6D9F56007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132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B006-4F79-1789-4C8F-5BC57AED3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302EB-D425-A163-9768-CAC5D23C1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1CD88D-0544-AE78-4865-F846B52FF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0A39B-6EDD-A653-EB1B-83899098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2E0F-C1D2-4E62-B007-8283FB2CC50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9BE8A4-7B27-A914-F680-E2F7E5A4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C8EF3-54F3-C609-39B3-A787B76E1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C3105-F225-4336-A8F7-6D9F56007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775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ED9B-5D43-8E42-BDA6-34A6B4A54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B22FA4-4ABF-3FAC-4D6D-BDD49D06A3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AAA73-CB4C-3CF8-E7E2-831BF51D2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92816-55A6-5121-2215-2EA46D97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2E0F-C1D2-4E62-B007-8283FB2CC50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0ECD4-9073-4DC0-0BA5-BEDE08F1C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65BB7-6D83-AAF6-C58E-AF2263F3D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C3105-F225-4336-A8F7-6D9F56007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833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62E06-3C4F-516A-F6D5-6CD8B0FA7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DAC15F-CCC4-59A5-DAC0-89D260C71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FDC41-45D8-0945-8884-5A6D67466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2E0F-C1D2-4E62-B007-8283FB2CC50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DCFB4-EDBE-83FD-AB04-EEB76603A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ACA92-FA2B-FBA7-FB0A-A3F134E07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C3105-F225-4336-A8F7-6D9F56007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949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238F2-D138-59C5-0133-60EE6E5E1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62384-63D7-B406-9EB2-6F3E8ED13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463C9-B905-4DEA-23F9-EC4784ABA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2E0F-C1D2-4E62-B007-8283FB2CC50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079D2-8E32-9092-4EF0-19004F100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014BC-88AA-4C84-2E84-48C39C165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C3105-F225-4336-A8F7-6D9F56007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753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E2287C-D108-0569-9E28-853C8A86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A215D-D65C-1007-E954-51A6EF871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1628C-E03D-2F85-33A1-00E5E43530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6E2E0F-C1D2-4E62-B007-8283FB2CC50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2E6CF-8DC4-F87B-3782-311C355AE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DCD4E-1E29-A6AC-B982-BDD95B02F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EC3105-F225-4336-A8F7-6D9F56007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248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2;p13" descr="Picture 2">
            <a:extLst>
              <a:ext uri="{FF2B5EF4-FFF2-40B4-BE49-F238E27FC236}">
                <a16:creationId xmlns:a16="http://schemas.microsoft.com/office/drawing/2014/main" id="{FFB903E5-FBEB-1FD2-984F-6A1DAA42EA2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3143" y="325875"/>
            <a:ext cx="10891157" cy="117635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518C15-21C3-E9A2-2F6B-D72017FF7DAC}"/>
              </a:ext>
            </a:extLst>
          </p:cNvPr>
          <p:cNvSpPr txBox="1"/>
          <p:nvPr/>
        </p:nvSpPr>
        <p:spPr>
          <a:xfrm>
            <a:off x="1221828" y="1802368"/>
            <a:ext cx="975097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CSA5102 – CRYPTOGRAPHY AND NETWORK SECURITY</a:t>
            </a:r>
          </a:p>
          <a:p>
            <a:br>
              <a:rPr lang="en-US" sz="2800" dirty="0"/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92BE3C-33EB-8BA2-0DDA-FD8B839DCD11}"/>
              </a:ext>
            </a:extLst>
          </p:cNvPr>
          <p:cNvSpPr txBox="1"/>
          <p:nvPr/>
        </p:nvSpPr>
        <p:spPr>
          <a:xfrm>
            <a:off x="719666" y="2625727"/>
            <a:ext cx="1082463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“Security Attacks, Threats, Risks and Their Impact on Security Goals”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88FE7F-D4C8-A5F4-E43A-C1BF7E4BE378}"/>
              </a:ext>
            </a:extLst>
          </p:cNvPr>
          <p:cNvSpPr txBox="1"/>
          <p:nvPr/>
        </p:nvSpPr>
        <p:spPr>
          <a:xfrm>
            <a:off x="719667" y="4632960"/>
            <a:ext cx="37533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E. Anbalagan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33311B-35A9-2BD7-9484-DE92AAF175A8}"/>
              </a:ext>
            </a:extLst>
          </p:cNvPr>
          <p:cNvSpPr txBox="1"/>
          <p:nvPr/>
        </p:nvSpPr>
        <p:spPr>
          <a:xfrm>
            <a:off x="8421189" y="4632960"/>
            <a:ext cx="3587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Midhuna(192521302)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930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A02E89-3E98-2430-AEB8-7967FBE344A8}"/>
              </a:ext>
            </a:extLst>
          </p:cNvPr>
          <p:cNvSpPr txBox="1"/>
          <p:nvPr/>
        </p:nvSpPr>
        <p:spPr>
          <a:xfrm>
            <a:off x="4416034" y="529680"/>
            <a:ext cx="33599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59F858-7FC2-943D-91AB-51E63B74E3F7}"/>
              </a:ext>
            </a:extLst>
          </p:cNvPr>
          <p:cNvSpPr txBox="1"/>
          <p:nvPr/>
        </p:nvSpPr>
        <p:spPr>
          <a:xfrm>
            <a:off x="1692580" y="2031021"/>
            <a:ext cx="8657482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Threats and risks can cause data loss and system damage.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 affect Confidentiality, Integrity, and Availability.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security measures help reduce these risks.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attacks can seriously affect computer systems, networks, and sensitive data</a:t>
            </a:r>
            <a:r>
              <a:rPr lang="en-US" sz="2400" dirty="0"/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71B55F6E-0EFE-8CA4-7025-0FC31FD893F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132" y="357052"/>
            <a:ext cx="1309673" cy="1114698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C6794453-43C4-9B73-915C-8142F0CAFE8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4194" y="387866"/>
            <a:ext cx="1550043" cy="108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089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6">
            <a:extLst>
              <a:ext uri="{FF2B5EF4-FFF2-40B4-BE49-F238E27FC236}">
                <a16:creationId xmlns:a16="http://schemas.microsoft.com/office/drawing/2014/main" id="{7E39CBAC-B008-330D-4889-C9E360C9159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015" y="326238"/>
            <a:ext cx="1309673" cy="1114698"/>
          </a:xfrm>
          <a:prstGeom prst="rect">
            <a:avLst/>
          </a:prstGeom>
        </p:spPr>
      </p:pic>
      <p:pic>
        <p:nvPicPr>
          <p:cNvPr id="5" name="object 7">
            <a:extLst>
              <a:ext uri="{FF2B5EF4-FFF2-40B4-BE49-F238E27FC236}">
                <a16:creationId xmlns:a16="http://schemas.microsoft.com/office/drawing/2014/main" id="{BF8B1262-60F8-E37C-C1FE-6A2DE188388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4194" y="357052"/>
            <a:ext cx="1550043" cy="10838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78C683-2705-0367-A351-DB43D9F7822C}"/>
              </a:ext>
            </a:extLst>
          </p:cNvPr>
          <p:cNvSpPr txBox="1"/>
          <p:nvPr/>
        </p:nvSpPr>
        <p:spPr>
          <a:xfrm>
            <a:off x="3176753" y="614855"/>
            <a:ext cx="54233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5D0EEB-8865-9078-AFD3-430DF5A1BF67}"/>
              </a:ext>
            </a:extLst>
          </p:cNvPr>
          <p:cNvSpPr txBox="1"/>
          <p:nvPr/>
        </p:nvSpPr>
        <p:spPr>
          <a:xfrm>
            <a:off x="1619451" y="2090172"/>
            <a:ext cx="958194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protects systems and data from attacks.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threat is a possible danger to a system.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is the chance of damage or loss.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CIA ensures data confidentiality, integrity, and availability. </a:t>
            </a:r>
          </a:p>
          <a:p>
            <a:pPr lvl="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323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6">
            <a:extLst>
              <a:ext uri="{FF2B5EF4-FFF2-40B4-BE49-F238E27FC236}">
                <a16:creationId xmlns:a16="http://schemas.microsoft.com/office/drawing/2014/main" id="{B1D3CF13-3ABD-BADE-CA3D-92C4D8A773C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1194" y="301155"/>
            <a:ext cx="1309673" cy="1114698"/>
          </a:xfrm>
          <a:prstGeom prst="rect">
            <a:avLst/>
          </a:prstGeom>
        </p:spPr>
      </p:pic>
      <p:pic>
        <p:nvPicPr>
          <p:cNvPr id="5" name="object 7">
            <a:extLst>
              <a:ext uri="{FF2B5EF4-FFF2-40B4-BE49-F238E27FC236}">
                <a16:creationId xmlns:a16="http://schemas.microsoft.com/office/drawing/2014/main" id="{524AEE8F-6480-6CA0-3FD5-F98EFCF7A5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4537" y="301155"/>
            <a:ext cx="1550043" cy="10838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022D6B-3682-46AB-9FE8-60970544EC06}"/>
              </a:ext>
            </a:extLst>
          </p:cNvPr>
          <p:cNvSpPr txBox="1"/>
          <p:nvPr/>
        </p:nvSpPr>
        <p:spPr>
          <a:xfrm>
            <a:off x="4824248" y="458376"/>
            <a:ext cx="29323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9628C1-892E-C217-2850-1BFAF048C730}"/>
              </a:ext>
            </a:extLst>
          </p:cNvPr>
          <p:cNvSpPr txBox="1"/>
          <p:nvPr/>
        </p:nvSpPr>
        <p:spPr>
          <a:xfrm>
            <a:off x="1690396" y="1894566"/>
            <a:ext cx="855719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effects of security threats on data and systems.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suitable security measures to reduce cybersecurity risks.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and understand different types of security attacks and threats. </a:t>
            </a:r>
          </a:p>
          <a:p>
            <a:pPr lvl="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93572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6">
            <a:extLst>
              <a:ext uri="{FF2B5EF4-FFF2-40B4-BE49-F238E27FC236}">
                <a16:creationId xmlns:a16="http://schemas.microsoft.com/office/drawing/2014/main" id="{44A1DA81-5996-9704-6F6C-F8D0A17E047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6015" y="310831"/>
            <a:ext cx="1309673" cy="1114698"/>
          </a:xfrm>
          <a:prstGeom prst="rect">
            <a:avLst/>
          </a:prstGeom>
        </p:spPr>
      </p:pic>
      <p:pic>
        <p:nvPicPr>
          <p:cNvPr id="5" name="object 7">
            <a:extLst>
              <a:ext uri="{FF2B5EF4-FFF2-40B4-BE49-F238E27FC236}">
                <a16:creationId xmlns:a16="http://schemas.microsoft.com/office/drawing/2014/main" id="{5BD39C3B-2063-254B-7C55-75581E4F16C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05942" y="326238"/>
            <a:ext cx="1550043" cy="10838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833C8A-4C89-7742-6789-005D32F2DB21}"/>
              </a:ext>
            </a:extLst>
          </p:cNvPr>
          <p:cNvSpPr txBox="1"/>
          <p:nvPr/>
        </p:nvSpPr>
        <p:spPr>
          <a:xfrm>
            <a:off x="1470563" y="1833951"/>
            <a:ext cx="9392763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cyber attacks create serious threats to computer systems and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security controls can allow unauthorized access to sensitive information.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attacks may cause data loss, modification, and system disruption.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D833ED-A6B3-1E50-9403-8412F3605583}"/>
              </a:ext>
            </a:extLst>
          </p:cNvPr>
          <p:cNvSpPr txBox="1"/>
          <p:nvPr/>
        </p:nvSpPr>
        <p:spPr>
          <a:xfrm>
            <a:off x="3334407" y="552862"/>
            <a:ext cx="51947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206921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DECF7A-38C6-275D-27C1-97D726A7813E}"/>
              </a:ext>
            </a:extLst>
          </p:cNvPr>
          <p:cNvSpPr txBox="1"/>
          <p:nvPr/>
        </p:nvSpPr>
        <p:spPr>
          <a:xfrm>
            <a:off x="3943313" y="440267"/>
            <a:ext cx="50655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C30513F7-70B5-2CBF-D3B2-42E6C23599C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953" y="275453"/>
            <a:ext cx="1333319" cy="1114698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B390CA24-8627-F17F-EAF9-3441F50B3E0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99700" y="218447"/>
            <a:ext cx="1413933" cy="10284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ABC4D6-2040-A6AF-0C92-8E96CFF20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301121"/>
            <a:ext cx="6298323" cy="408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29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6">
            <a:extLst>
              <a:ext uri="{FF2B5EF4-FFF2-40B4-BE49-F238E27FC236}">
                <a16:creationId xmlns:a16="http://schemas.microsoft.com/office/drawing/2014/main" id="{36E9036E-DD13-7F7F-4B3B-CD31F660BF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948" y="220272"/>
            <a:ext cx="1333319" cy="1114698"/>
          </a:xfrm>
          <a:prstGeom prst="rect">
            <a:avLst/>
          </a:prstGeom>
        </p:spPr>
      </p:pic>
      <p:pic>
        <p:nvPicPr>
          <p:cNvPr id="5" name="object 7">
            <a:extLst>
              <a:ext uri="{FF2B5EF4-FFF2-40B4-BE49-F238E27FC236}">
                <a16:creationId xmlns:a16="http://schemas.microsoft.com/office/drawing/2014/main" id="{B5D94197-FEE8-1AB6-B13A-3E2A5523AA8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58265" y="306557"/>
            <a:ext cx="1413933" cy="10284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F1C23B-013F-206B-9138-E3CD363F3321}"/>
              </a:ext>
            </a:extLst>
          </p:cNvPr>
          <p:cNvSpPr txBox="1"/>
          <p:nvPr/>
        </p:nvSpPr>
        <p:spPr>
          <a:xfrm>
            <a:off x="4606159" y="390335"/>
            <a:ext cx="33869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49B7E-3E0E-6554-B334-BCF4B3F9E2CC}"/>
              </a:ext>
            </a:extLst>
          </p:cNvPr>
          <p:cNvSpPr txBox="1"/>
          <p:nvPr/>
        </p:nvSpPr>
        <p:spPr>
          <a:xfrm>
            <a:off x="1398007" y="1754021"/>
            <a:ext cx="9149124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systems can use AI to detect security attacks and threats more effectively.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security tools can help identify risks before they cause serious damage.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can provide faster detection and response to cyber attacks. </a:t>
            </a:r>
          </a:p>
        </p:txBody>
      </p:sp>
    </p:spTree>
    <p:extLst>
      <p:ext uri="{BB962C8B-B14F-4D97-AF65-F5344CB8AC3E}">
        <p14:creationId xmlns:p14="http://schemas.microsoft.com/office/powerpoint/2010/main" val="3465739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6">
            <a:extLst>
              <a:ext uri="{FF2B5EF4-FFF2-40B4-BE49-F238E27FC236}">
                <a16:creationId xmlns:a16="http://schemas.microsoft.com/office/drawing/2014/main" id="{2AC693DE-85F6-23C7-CE8C-89E025AA30E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948" y="220272"/>
            <a:ext cx="1333319" cy="1114698"/>
          </a:xfrm>
          <a:prstGeom prst="rect">
            <a:avLst/>
          </a:prstGeom>
        </p:spPr>
      </p:pic>
      <p:pic>
        <p:nvPicPr>
          <p:cNvPr id="5" name="object 7">
            <a:extLst>
              <a:ext uri="{FF2B5EF4-FFF2-40B4-BE49-F238E27FC236}">
                <a16:creationId xmlns:a16="http://schemas.microsoft.com/office/drawing/2014/main" id="{71CC4206-ED30-0C22-21E9-DD244CA0ADE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58265" y="306557"/>
            <a:ext cx="1413933" cy="10284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F20CD3-A4C3-8B1A-5B4A-49D9C4ED870B}"/>
              </a:ext>
            </a:extLst>
          </p:cNvPr>
          <p:cNvSpPr txBox="1"/>
          <p:nvPr/>
        </p:nvSpPr>
        <p:spPr>
          <a:xfrm>
            <a:off x="4221282" y="565529"/>
            <a:ext cx="31452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144614-1B7A-EE5D-3E52-DCC9FAE1845B}"/>
              </a:ext>
            </a:extLst>
          </p:cNvPr>
          <p:cNvSpPr txBox="1"/>
          <p:nvPr/>
        </p:nvSpPr>
        <p:spPr>
          <a:xfrm>
            <a:off x="1245607" y="1836682"/>
            <a:ext cx="9404000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attacks and threats can cause serious damage to systems and data.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security measures can reduce cyber risks and protect sensitive information.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cybersecurity practices help build a safe and reliable digital environment. </a:t>
            </a:r>
          </a:p>
        </p:txBody>
      </p:sp>
    </p:spTree>
    <p:extLst>
      <p:ext uri="{BB962C8B-B14F-4D97-AF65-F5344CB8AC3E}">
        <p14:creationId xmlns:p14="http://schemas.microsoft.com/office/powerpoint/2010/main" val="1652365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808B3A-9667-37FF-B303-F81FDA645B1F}"/>
              </a:ext>
            </a:extLst>
          </p:cNvPr>
          <p:cNvSpPr txBox="1"/>
          <p:nvPr/>
        </p:nvSpPr>
        <p:spPr>
          <a:xfrm>
            <a:off x="3238499" y="2590874"/>
            <a:ext cx="626679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3" name="object 6">
            <a:extLst>
              <a:ext uri="{FF2B5EF4-FFF2-40B4-BE49-F238E27FC236}">
                <a16:creationId xmlns:a16="http://schemas.microsoft.com/office/drawing/2014/main" id="{F8920B7D-8F4B-0012-BC04-292535EBA0A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548" y="405729"/>
            <a:ext cx="1333319" cy="1114698"/>
          </a:xfrm>
          <a:prstGeom prst="rect">
            <a:avLst/>
          </a:prstGeom>
        </p:spPr>
      </p:pic>
      <p:pic>
        <p:nvPicPr>
          <p:cNvPr id="5" name="object 7">
            <a:extLst>
              <a:ext uri="{FF2B5EF4-FFF2-40B4-BE49-F238E27FC236}">
                <a16:creationId xmlns:a16="http://schemas.microsoft.com/office/drawing/2014/main" id="{120E3DB1-B247-B93B-C4DE-0612A966156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98268" y="279604"/>
            <a:ext cx="1413933" cy="102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502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561</TotalTime>
  <Words>275</Words>
  <Application>Microsoft Office PowerPoint</Application>
  <PresentationFormat>Widescreen</PresentationFormat>
  <Paragraphs>36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MOSHIYA P</dc:creator>
  <cp:lastModifiedBy>Midhuna A</cp:lastModifiedBy>
  <cp:revision>20</cp:revision>
  <dcterms:created xsi:type="dcterms:W3CDTF">2026-07-21T09:12:37Z</dcterms:created>
  <dcterms:modified xsi:type="dcterms:W3CDTF">2026-10-06T14:47:26Z</dcterms:modified>
</cp:coreProperties>
</file>